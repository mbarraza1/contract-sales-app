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f4ed1c794a4ea3" /><Relationship Type="http://schemas.openxmlformats.org/officeDocument/2006/relationships/extended-properties" Target="/docProps/app.xml" Id="Ra420e5d0c12f4e12" /><Relationship Type="http://schemas.openxmlformats.org/officeDocument/2006/relationships/officeDocument" Target="/ppt/presentation.xml" Id="Raae00dfa9c1f4a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e87252b0e843b1"/>
  </p:sldMasterIdLst>
  <p:notesMasterIdLst>
    <p:notesMasterId xmlns:r="http://schemas.openxmlformats.org/officeDocument/2006/relationships" r:id="R97e01ad14e914f48"/>
  </p:notesMasterIdLst>
  <p:sldIdLst>
    <p:sldId xmlns:r="http://schemas.openxmlformats.org/officeDocument/2006/relationships" id="256" r:id="R2668de23bd4f468a"/>
    <p:sldId xmlns:r="http://schemas.openxmlformats.org/officeDocument/2006/relationships" id="257" r:id="R62575485642f4ad2"/>
    <p:sldId xmlns:r="http://schemas.openxmlformats.org/officeDocument/2006/relationships" id="258" r:id="R94b115176e6049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db7e2f4ce54578" /><Relationship Type="http://schemas.openxmlformats.org/officeDocument/2006/relationships/slideMaster" Target="/ppt/slideMasters/slideMaster1.xml" Id="Rfde87252b0e843b1" /><Relationship Type="http://schemas.openxmlformats.org/officeDocument/2006/relationships/notesMaster" Target="/ppt/notesMasters/notesMaster1.xml" Id="R97e01ad14e914f48" /><Relationship Type="http://schemas.openxmlformats.org/officeDocument/2006/relationships/presProps" Target="/ppt/presProps.xml" Id="R6c4c3fd4f23d4d9f" /><Relationship Type="http://schemas.openxmlformats.org/officeDocument/2006/relationships/tableStyles" Target="/ppt/tableStyles.xml" Id="R82f6d3ad7eba4289" /><Relationship Type="http://schemas.openxmlformats.org/officeDocument/2006/relationships/slide" Target="/ppt/slides/slide1.xml" Id="R2668de23bd4f468a" /><Relationship Type="http://schemas.openxmlformats.org/officeDocument/2006/relationships/slide" Target="/ppt/slides/slide2.xml" Id="R62575485642f4ad2" /><Relationship Type="http://schemas.openxmlformats.org/officeDocument/2006/relationships/slide" Target="/ppt/slides/slide3.xml" Id="R94b115176e6049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4761362fef47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7c1465b9b64584" /><Relationship Type="http://schemas.openxmlformats.org/officeDocument/2006/relationships/notesMaster" Target="/ppt/notesMasters/notesMaster1.xml" Id="Re00a0ab20f0b4a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9b98ac269243b6" /><Relationship Type="http://schemas.openxmlformats.org/officeDocument/2006/relationships/notesMaster" Target="/ppt/notesMasters/notesMaster1.xml" Id="Rd35fb99c165d4c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e83a05432e4855" /><Relationship Type="http://schemas.openxmlformats.org/officeDocument/2006/relationships/notesMaster" Target="/ppt/notesMasters/notesMaster1.xml" Id="Rac1aae15a71645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0fc2874f247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203c7f68a14d78" /><Relationship Type="http://schemas.openxmlformats.org/officeDocument/2006/relationships/slideLayout" Target="/ppt/slideLayouts/slideLayout1.xml" Id="R6f0dd8127afd44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0dd8127afd44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56548c9dd48d0" /><Relationship Type="http://schemas.openxmlformats.org/officeDocument/2006/relationships/notesSlide" Target="/ppt/notesSlides/notesSlide1.xml" Id="R7234f2ab7dae4b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33f9bcbe748b2" /><Relationship Type="http://schemas.openxmlformats.org/officeDocument/2006/relationships/notesSlide" Target="/ppt/notesSlides/notesSlide2.xml" Id="R1d9ab8d6348a4e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51ff071454359" /><Relationship Type="http://schemas.openxmlformats.org/officeDocument/2006/relationships/notesSlide" Target="/ppt/notesSlides/notesSlide3.xml" Id="R79dc5fa0cb374e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EA407F-1DF0-49F0-9145-2DD20018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01 / PROBLEM + USERS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08193-D3EC-4B30-A818-C6088137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72390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Sales reps need a sharper contractor target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BEA7B-6EB0-47FB-99EF-AE3C9A29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704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The app converts public contractor listings and web research into a shared, ranked view of who to sell to first.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62FFB0F-22F5-48D7-9038-9B41FB55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704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0A5A0-6101-422A-B737-1797EE4E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Contractor Sales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14B8C-6A15-41EF-A21C-1F25ACC8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24600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10013 radius MVP</a:t>
            </a:r>
          </a:p>
        </p:txBody>
      </p:sp>
      <p:sp>
        <p:nvSpPr>
          <p:cNvPr id="7" name="left-problem-panel">
            <a:extLst xmlns:a="http://schemas.openxmlformats.org/drawingml/2006/main">
              <a:ext uri="{FF2B5EF4-FFF2-40B4-BE49-F238E27FC236}">
                <a16:creationId xmlns:a16="http://schemas.microsoft.com/office/drawing/2014/main" id="{1B13D565-E195-413D-96A6-8B8111EB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52006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58B36-F266-4E07-B349-7CC4A7ED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53C75-E447-471F-AD62-A05CE025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5148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GAF contractor results are useful, but they are not sales-ready: reps still need company size, contact paths, buying signals, and a concise reason to prioritize one account over another.</a:t>
            </a:r>
          </a:p>
        </p:txBody>
      </p:sp>
      <p:sp>
        <p:nvSpPr>
          <p:cNvPr id="10" name="problem-accent">
            <a:extLst xmlns:a="http://schemas.openxmlformats.org/drawingml/2006/main">
              <a:ext uri="{FF2B5EF4-FFF2-40B4-BE49-F238E27FC236}">
                <a16:creationId xmlns:a16="http://schemas.microsoft.com/office/drawing/2014/main" id="{7B412ADE-645D-4DE3-8200-E0ABBAB0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3AB31-8534-4F4A-BD33-BD5FD0B4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102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8704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Goal: prioritize most likely to buy, then largest company.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6F86A-EA0E-468D-B766-C533E081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Core user</a:t>
            </a:r>
          </a:p>
        </p:txBody>
      </p:sp>
      <p:sp>
        <p:nvSpPr>
          <p:cNvPr id="13" name="sales-rep-panel">
            <a:extLst xmlns:a="http://schemas.openxmlformats.org/drawingml/2006/main">
              <a:ext uri="{FF2B5EF4-FFF2-40B4-BE49-F238E27FC236}">
                <a16:creationId xmlns:a16="http://schemas.microsoft.com/office/drawing/2014/main" id="{8FCF29EE-0B94-47D6-8164-CB3F0070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52768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4A4E6-DD04-4F84-BAE1-9256AA44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1005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Sales reps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6617A-09D4-466D-9C70-5E7AD705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48200"/>
            <a:ext cx="4343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33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Primary users who need a fast way to decide which contractors to contact first, what to say, and why each company deserves priority.</a:t>
            </a:r>
          </a:p>
        </p:txBody>
      </p:sp>
      <p:sp>
        <p:nvSpPr>
          <p:cNvPr id="16" name="rep-workflow-1">
            <a:extLst xmlns:a="http://schemas.openxmlformats.org/drawingml/2006/main">
              <a:ext uri="{FF2B5EF4-FFF2-40B4-BE49-F238E27FC236}">
                <a16:creationId xmlns:a16="http://schemas.microsoft.com/office/drawing/2014/main" id="{A44863C5-4BC2-4136-9981-E682DDAB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857D1-E95E-43CC-8E1C-3CC3CDAF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10225"/>
            <a:ext cx="1162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Rank targets</a:t>
            </a:r>
          </a:p>
        </p:txBody>
      </p:sp>
      <p:sp>
        <p:nvSpPr>
          <p:cNvPr id="18" name="rep-workflow-2">
            <a:extLst xmlns:a="http://schemas.openxmlformats.org/drawingml/2006/main">
              <a:ext uri="{FF2B5EF4-FFF2-40B4-BE49-F238E27FC236}">
                <a16:creationId xmlns:a16="http://schemas.microsoft.com/office/drawing/2014/main" id="{09D8BD29-9E45-4472-A872-D59AACF6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5245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0D7040-1951-4CF5-8967-419A9257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10225"/>
            <a:ext cx="1162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Read rationale</a:t>
            </a:r>
          </a:p>
        </p:txBody>
      </p:sp>
      <p:sp>
        <p:nvSpPr>
          <p:cNvPr id="20" name="rep-workflow-3">
            <a:extLst xmlns:a="http://schemas.openxmlformats.org/drawingml/2006/main">
              <a:ext uri="{FF2B5EF4-FFF2-40B4-BE49-F238E27FC236}">
                <a16:creationId xmlns:a16="http://schemas.microsoft.com/office/drawing/2014/main" id="{11CDBD01-330F-4955-ABAA-F7465E51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5245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E775D1-F566-4D93-9E44-C85E7355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610225"/>
            <a:ext cx="1504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favorites</a:t>
            </a:r>
          </a:p>
        </p:txBody>
      </p:sp>
    </p:spTree>
    <p:extLst>
      <p:ext uri="{BB962C8B-B14F-4D97-AF65-F5344CB8AC3E}">
        <p14:creationId xmlns:p14="http://schemas.microsoft.com/office/powerpoint/2010/main" val="366742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9B4AD3-0912-4707-B62C-7901D458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02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8B745-6D8F-4075-A48E-6E74617C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72390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Scrape, enrich, score, persist, present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D7EF6-B607-4E76-A07A-B9614E72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704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GAF data is enriched by Perplexity before landing in SQLite; the API computes priority and the dashboard gives every rep the same ranked view.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9213DF6-F7FB-4AD6-8CEE-F65AC01C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704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EF9AE-34D0-40B7-8414-1B23CB5D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 pipeline</a:t>
            </a:r>
          </a:p>
        </p:txBody>
      </p:sp>
      <p:sp>
        <p:nvSpPr>
          <p:cNvPr id="6" name="a1-line">
            <a:extLst xmlns:a="http://schemas.openxmlformats.org/drawingml/2006/main">
              <a:ext uri="{FF2B5EF4-FFF2-40B4-BE49-F238E27FC236}">
                <a16:creationId xmlns:a16="http://schemas.microsoft.com/office/drawing/2014/main" id="{AB896B08-97EA-4C2B-B6FC-B6394450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338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a1-head">
            <a:extLst xmlns:a="http://schemas.openxmlformats.org/drawingml/2006/main">
              <a:ext uri="{FF2B5EF4-FFF2-40B4-BE49-F238E27FC236}">
                <a16:creationId xmlns:a16="http://schemas.microsoft.com/office/drawing/2014/main" id="{0A8B5BE3-FA28-4338-88C7-7967D91D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2481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8" name="a2-line">
            <a:extLst xmlns:a="http://schemas.openxmlformats.org/drawingml/2006/main">
              <a:ext uri="{FF2B5EF4-FFF2-40B4-BE49-F238E27FC236}">
                <a16:creationId xmlns:a16="http://schemas.microsoft.com/office/drawing/2014/main" id="{BA730513-995C-42DB-B7DC-D4C40F31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338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a2-head">
            <a:extLst xmlns:a="http://schemas.openxmlformats.org/drawingml/2006/main">
              <a:ext uri="{FF2B5EF4-FFF2-40B4-BE49-F238E27FC236}">
                <a16:creationId xmlns:a16="http://schemas.microsoft.com/office/drawing/2014/main" id="{03C0355E-C63B-4F96-9AED-61B9B4BC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2481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0" name="a3-line">
            <a:extLst xmlns:a="http://schemas.openxmlformats.org/drawingml/2006/main">
              <a:ext uri="{FF2B5EF4-FFF2-40B4-BE49-F238E27FC236}">
                <a16:creationId xmlns:a16="http://schemas.microsoft.com/office/drawing/2014/main" id="{635CC616-8048-4E4B-9D37-3EDF9FA5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3338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1" name="a3-head">
            <a:extLst xmlns:a="http://schemas.openxmlformats.org/drawingml/2006/main">
              <a:ext uri="{FF2B5EF4-FFF2-40B4-BE49-F238E27FC236}">
                <a16:creationId xmlns:a16="http://schemas.microsoft.com/office/drawing/2014/main" id="{63996C74-5E17-4780-B3CC-2E438225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2481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2" name="a4-line">
            <a:extLst xmlns:a="http://schemas.openxmlformats.org/drawingml/2006/main">
              <a:ext uri="{FF2B5EF4-FFF2-40B4-BE49-F238E27FC236}">
                <a16:creationId xmlns:a16="http://schemas.microsoft.com/office/drawing/2014/main" id="{4759C90A-6A51-42CE-8144-B3254E95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338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a4-head">
            <a:extLst xmlns:a="http://schemas.openxmlformats.org/drawingml/2006/main">
              <a:ext uri="{FF2B5EF4-FFF2-40B4-BE49-F238E27FC236}">
                <a16:creationId xmlns:a16="http://schemas.microsoft.com/office/drawing/2014/main" id="{FD0EE814-4013-45A1-99C4-CF2480B3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2481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4" name="a5-line">
            <a:extLst xmlns:a="http://schemas.openxmlformats.org/drawingml/2006/main">
              <a:ext uri="{FF2B5EF4-FFF2-40B4-BE49-F238E27FC236}">
                <a16:creationId xmlns:a16="http://schemas.microsoft.com/office/drawing/2014/main" id="{D46C8119-ADB9-403C-9FF8-87F855CB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3338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5" name="a5-head">
            <a:extLst xmlns:a="http://schemas.openxmlformats.org/drawingml/2006/main">
              <a:ext uri="{FF2B5EF4-FFF2-40B4-BE49-F238E27FC236}">
                <a16:creationId xmlns:a16="http://schemas.microsoft.com/office/drawing/2014/main" id="{E9B74D29-0CC2-43B5-A811-FE639500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2481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6" name="flow-GAF Coveo">
            <a:extLst xmlns:a="http://schemas.openxmlformats.org/drawingml/2006/main">
              <a:ext uri="{FF2B5EF4-FFF2-40B4-BE49-F238E27FC236}">
                <a16:creationId xmlns:a16="http://schemas.microsoft.com/office/drawing/2014/main" id="{B33795D6-1361-462B-9942-9131FAAA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17CA9-7632-424C-87B8-AAB41266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1200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GAF Coveo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41C13E-E53F-4FE7-976A-685375E2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1200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contractor search API</a:t>
            </a:r>
          </a:p>
        </p:txBody>
      </p:sp>
      <p:sp>
        <p:nvSpPr>
          <p:cNvPr id="19" name="flow-Playwright">
            <a:extLst xmlns:a="http://schemas.openxmlformats.org/drawingml/2006/main">
              <a:ext uri="{FF2B5EF4-FFF2-40B4-BE49-F238E27FC236}">
                <a16:creationId xmlns:a16="http://schemas.microsoft.com/office/drawing/2014/main" id="{C78E8166-FC72-44AF-95AE-A890FD88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243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B90B17-572E-4E57-905A-5894EAA0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76700"/>
            <a:ext cx="1200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Playwright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3492BA-0531-4FC8-90CE-4C7FE592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62450"/>
            <a:ext cx="1200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token + profile details</a:t>
            </a:r>
          </a:p>
        </p:txBody>
      </p:sp>
      <p:sp>
        <p:nvSpPr>
          <p:cNvPr id="22" name="flow-Perplexity">
            <a:extLst xmlns:a="http://schemas.openxmlformats.org/drawingml/2006/main">
              <a:ext uri="{FF2B5EF4-FFF2-40B4-BE49-F238E27FC236}">
                <a16:creationId xmlns:a16="http://schemas.microsoft.com/office/drawing/2014/main" id="{6E6A2F8F-EC58-40F9-BB2E-44C96EA5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243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8B1AA5-07B6-4F4F-B161-97FEB4D9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76700"/>
            <a:ext cx="1200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Perplexity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A3798E-A3F5-48F1-A107-752D3AAF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62450"/>
            <a:ext cx="1200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enrichment + rationale</a:t>
            </a:r>
          </a:p>
        </p:txBody>
      </p:sp>
      <p:sp>
        <p:nvSpPr>
          <p:cNvPr id="25" name="flow-SQLite">
            <a:extLst xmlns:a="http://schemas.openxmlformats.org/drawingml/2006/main">
              <a:ext uri="{FF2B5EF4-FFF2-40B4-BE49-F238E27FC236}">
                <a16:creationId xmlns:a16="http://schemas.microsoft.com/office/drawing/2014/main" id="{CA65033E-57ED-48BB-9054-2CF6290E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174D7E-B530-40E2-B1E3-8426A368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76700"/>
            <a:ext cx="1200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SQLite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77392B-F883-4406-8207-C1AA50D4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62450"/>
            <a:ext cx="1200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10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companies + metrics</a:t>
            </a:r>
          </a:p>
        </p:txBody>
      </p:sp>
      <p:sp>
        <p:nvSpPr>
          <p:cNvPr id="28" name="flow-Score/API">
            <a:extLst xmlns:a="http://schemas.openxmlformats.org/drawingml/2006/main">
              <a:ext uri="{FF2B5EF4-FFF2-40B4-BE49-F238E27FC236}">
                <a16:creationId xmlns:a16="http://schemas.microsoft.com/office/drawing/2014/main" id="{4119C397-AE31-497B-8A7C-139DBB55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243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6EA7C4-AFE6-4870-9C1E-EA9B9917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76700"/>
            <a:ext cx="1200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Score/API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0AD2D8-D46F-4CAE-9A32-A6839797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1200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684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priority + favorites</a:t>
            </a:r>
          </a:p>
        </p:txBody>
      </p:sp>
      <p:sp>
        <p:nvSpPr>
          <p:cNvPr id="31" name="flow-Dashboard">
            <a:extLst xmlns:a="http://schemas.openxmlformats.org/drawingml/2006/main">
              <a:ext uri="{FF2B5EF4-FFF2-40B4-BE49-F238E27FC236}">
                <a16:creationId xmlns:a16="http://schemas.microsoft.com/office/drawing/2014/main" id="{3E0FF037-9F86-4BFB-8919-03952EC4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924300"/>
            <a:ext cx="1543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1DD5FF-08AA-464D-A99C-F5FF591F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7670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Dashboard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F712C6-5FD1-4F42-AB09-09837696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362450"/>
            <a:ext cx="1238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32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ranked sales queue</a:t>
            </a:r>
          </a:p>
        </p:txBody>
      </p:sp>
      <p:sp>
        <p:nvSpPr>
          <p:cNvPr id="34" name="daily-worker">
            <a:extLst xmlns:a="http://schemas.openxmlformats.org/drawingml/2006/main">
              <a:ext uri="{FF2B5EF4-FFF2-40B4-BE49-F238E27FC236}">
                <a16:creationId xmlns:a16="http://schemas.microsoft.com/office/drawing/2014/main" id="{AB09F0EF-9533-4DCF-B3D2-0EBDA549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272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AF1E49-6651-4AFD-B33C-06B54F78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Daily worker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ACCB9F-79E8-4121-B536-98B5A5A0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57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GAF scrape -&gt; Perplexity -&gt; SQLite.</a:t>
            </a:r>
          </a:p>
        </p:txBody>
      </p:sp>
      <p:sp>
        <p:nvSpPr>
          <p:cNvPr id="37" name="scoring">
            <a:extLst xmlns:a="http://schemas.openxmlformats.org/drawingml/2006/main">
              <a:ext uri="{FF2B5EF4-FFF2-40B4-BE49-F238E27FC236}">
                <a16:creationId xmlns:a16="http://schemas.microsoft.com/office/drawing/2014/main" id="{7DDBC1D9-FF49-404D-BD97-4CBCC972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19700"/>
            <a:ext cx="377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9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75A08E-874D-49AA-852D-2E9D56D6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391150"/>
            <a:ext cx="1638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Overall priority score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E1F01E-7E8B-432D-A3E7-DBCEFF43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63880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422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Scale first; contactability and buying signals next.</a:t>
            </a:r>
          </a:p>
        </p:txBody>
      </p:sp>
      <p:sp>
        <p:nvSpPr>
          <p:cNvPr id="40" name="sessions">
            <a:extLst xmlns:a="http://schemas.openxmlformats.org/drawingml/2006/main">
              <a:ext uri="{FF2B5EF4-FFF2-40B4-BE49-F238E27FC236}">
                <a16:creationId xmlns:a16="http://schemas.microsoft.com/office/drawing/2014/main" id="{9131F060-88C0-43B1-91FC-C5CC244E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1970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80A5B8-2F69-476E-9DC4-42DFB13B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91150"/>
            <a:ext cx="331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Shared access, personal favorites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F6009F-B0CF-4409-B0EB-97C9C7DB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638800"/>
            <a:ext cx="3314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759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Same lead list; favorites persist by session token.</a:t>
            </a:r>
          </a:p>
        </p:txBody>
      </p:sp>
      <p:sp>
        <p:nvSpPr>
          <p:cNvPr id="43" name="backend-panel">
            <a:extLst xmlns:a="http://schemas.openxmlformats.org/drawingml/2006/main">
              <a:ext uri="{FF2B5EF4-FFF2-40B4-BE49-F238E27FC236}">
                <a16:creationId xmlns:a16="http://schemas.microsoft.com/office/drawing/2014/main" id="{A1236962-35FB-47B7-AC8B-B3950712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85800"/>
            <a:ext cx="3714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6B30BE-665A-41B1-8888-C48175A5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91440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implementation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EC6F9E-66F4-4703-A238-9C0DEFEA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33500"/>
            <a:ext cx="2914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Node 24 custom HTTP server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BF581B-D143-465D-9F44-765E7338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95450"/>
            <a:ext cx="2895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API: health, config, summary, companies, company detail, favorites.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700E2D-9A4D-46A9-8EFB-B6AB612F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9800"/>
            <a:ext cx="2895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45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Frontend: vanilla HTML/CSS/JS dashboard with filters, ranking table, scrollable company detail, and favorite stars.</a:t>
            </a:r>
          </a:p>
        </p:txBody>
      </p:sp>
      <p:sp>
        <p:nvSpPr>
          <p:cNvPr id="48" name="future-rule">
            <a:extLst xmlns:a="http://schemas.openxmlformats.org/drawingml/2006/main">
              <a:ext uri="{FF2B5EF4-FFF2-40B4-BE49-F238E27FC236}">
                <a16:creationId xmlns:a16="http://schemas.microsoft.com/office/drawing/2014/main" id="{C5005433-510F-4E6E-97BA-E0937B2B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5F04EB-E0BE-43CF-9986-65F06E51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800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Production path: auth, PostgreSQL, managed scraper/enrichment workers, and observability.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5FDED2-9D63-4050-9B42-B96858AB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05550"/>
            <a:ext cx="1695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10013 radius MVP</a:t>
            </a:r>
          </a:p>
        </p:txBody>
      </p:sp>
    </p:spTree>
    <p:extLst>
      <p:ext uri="{BB962C8B-B14F-4D97-AF65-F5344CB8AC3E}">
        <p14:creationId xmlns:p14="http://schemas.microsoft.com/office/powerpoint/2010/main" val="6635240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9E2597-342B-488A-B986-A7D0E298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03 / SCORING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8C460-8E8B-4AFB-A580-800E83B9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72390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How scoring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5EE62-A8FF-4EB6-8FA1-FC6E5495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704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Every company gets one 0-100 priority score. The model favors companies most likely to buy, with company size carrying the most weight.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44498D6-A3FF-4BA9-949D-DF3CE238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704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7BD60-7B55-4CCB-BF45-FA4D99F9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Driver weights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B0C69-9461-4CF6-9764-D5D4FDAC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Company scale</a:t>
            </a:r>
          </a:p>
        </p:txBody>
      </p:sp>
      <p:sp>
        <p:nvSpPr>
          <p:cNvPr id="7" name="scale-track">
            <a:extLst xmlns:a="http://schemas.openxmlformats.org/drawingml/2006/main">
              <a:ext uri="{FF2B5EF4-FFF2-40B4-BE49-F238E27FC236}">
                <a16:creationId xmlns:a16="http://schemas.microsoft.com/office/drawing/2014/main" id="{3A13AAE7-964B-419F-BFD2-C75284AC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00500"/>
            <a:ext cx="3028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8" name="scale-bar">
            <a:extLst xmlns:a="http://schemas.openxmlformats.org/drawingml/2006/main">
              <a:ext uri="{FF2B5EF4-FFF2-40B4-BE49-F238E27FC236}">
                <a16:creationId xmlns:a16="http://schemas.microsoft.com/office/drawing/2014/main" id="{EFF02B9A-BFA5-4703-B700-3A1CFA89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00500"/>
            <a:ext cx="3028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BAD82-B53C-4281-8454-DBE2ADC1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5287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99215-5CC2-4EBF-9989-5CF1EB4C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Contactability</a:t>
            </a:r>
          </a:p>
        </p:txBody>
      </p:sp>
      <p:sp>
        <p:nvSpPr>
          <p:cNvPr id="11" name="contactability-track">
            <a:extLst xmlns:a="http://schemas.openxmlformats.org/drawingml/2006/main">
              <a:ext uri="{FF2B5EF4-FFF2-40B4-BE49-F238E27FC236}">
                <a16:creationId xmlns:a16="http://schemas.microsoft.com/office/drawing/2014/main" id="{DAF9CCDA-5B41-49D9-A8C5-23953325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24350"/>
            <a:ext cx="3028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12" name="contactability-bar">
            <a:extLst xmlns:a="http://schemas.openxmlformats.org/drawingml/2006/main">
              <a:ext uri="{FF2B5EF4-FFF2-40B4-BE49-F238E27FC236}">
                <a16:creationId xmlns:a16="http://schemas.microsoft.com/office/drawing/2014/main" id="{1AB285F3-4F0D-4E4F-BF5C-920876BC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243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5CB9A-E1B0-4141-907F-65E1D3FB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767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B2224-3503-465B-8B41-FE92C95D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Buying signals</a:t>
            </a:r>
          </a:p>
        </p:txBody>
      </p:sp>
      <p:sp>
        <p:nvSpPr>
          <p:cNvPr id="15" name="signals-track">
            <a:extLst xmlns:a="http://schemas.openxmlformats.org/drawingml/2006/main">
              <a:ext uri="{FF2B5EF4-FFF2-40B4-BE49-F238E27FC236}">
                <a16:creationId xmlns:a16="http://schemas.microsoft.com/office/drawing/2014/main" id="{87C0BE4C-FAAF-4840-B2B2-E3B38E54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3028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16" name="signals-bar">
            <a:extLst xmlns:a="http://schemas.openxmlformats.org/drawingml/2006/main">
              <a:ext uri="{FF2B5EF4-FFF2-40B4-BE49-F238E27FC236}">
                <a16:creationId xmlns:a16="http://schemas.microsoft.com/office/drawing/2014/main" id="{DA6DAF79-020F-4C7C-99E1-E962B1C9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1409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5A4A8-D3EA-46DB-890B-543A2224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0057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DB0AF-CFB6-473D-9FCC-64619D51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Service fit</a:t>
            </a:r>
          </a:p>
        </p:txBody>
      </p:sp>
      <p:sp>
        <p:nvSpPr>
          <p:cNvPr id="19" name="service-track">
            <a:extLst xmlns:a="http://schemas.openxmlformats.org/drawingml/2006/main">
              <a:ext uri="{FF2B5EF4-FFF2-40B4-BE49-F238E27FC236}">
                <a16:creationId xmlns:a16="http://schemas.microsoft.com/office/drawing/2014/main" id="{CA44203D-CD65-43A9-BD20-7681294E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72050"/>
            <a:ext cx="3028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20" name="service-bar">
            <a:extLst xmlns:a="http://schemas.openxmlformats.org/drawingml/2006/main">
              <a:ext uri="{FF2B5EF4-FFF2-40B4-BE49-F238E27FC236}">
                <a16:creationId xmlns:a16="http://schemas.microsoft.com/office/drawing/2014/main" id="{CB03C519-E426-4628-85F7-B98A8371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72050"/>
            <a:ext cx="1209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AF853-41F3-4E11-92BA-573BE575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9244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65539-2E6E-4AB9-83B2-8136DFAE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Growth</a:t>
            </a:r>
          </a:p>
        </p:txBody>
      </p:sp>
      <p:sp>
        <p:nvSpPr>
          <p:cNvPr id="23" name="growth-track">
            <a:extLst xmlns:a="http://schemas.openxmlformats.org/drawingml/2006/main">
              <a:ext uri="{FF2B5EF4-FFF2-40B4-BE49-F238E27FC236}">
                <a16:creationId xmlns:a16="http://schemas.microsoft.com/office/drawing/2014/main" id="{48E3D967-EEB1-4FB0-98EA-F89468FC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95900"/>
            <a:ext cx="3028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24" name="growth-bar">
            <a:extLst xmlns:a="http://schemas.openxmlformats.org/drawingml/2006/main">
              <a:ext uri="{FF2B5EF4-FFF2-40B4-BE49-F238E27FC236}">
                <a16:creationId xmlns:a16="http://schemas.microsoft.com/office/drawing/2014/main" id="{9FAA7BF1-CDF8-4297-81CC-A8334117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959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DDBEC-04B3-4E2D-8250-E4E0F2C6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4827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D8DC80-F4D1-489C-AEA1-380D6217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Reputation</a:t>
            </a:r>
          </a:p>
        </p:txBody>
      </p:sp>
      <p:sp>
        <p:nvSpPr>
          <p:cNvPr id="27" name="reputation-track">
            <a:extLst xmlns:a="http://schemas.openxmlformats.org/drawingml/2006/main">
              <a:ext uri="{FF2B5EF4-FFF2-40B4-BE49-F238E27FC236}">
                <a16:creationId xmlns:a16="http://schemas.microsoft.com/office/drawing/2014/main" id="{8F93DFFE-FCD4-4778-9EEB-54B2B91C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19750"/>
            <a:ext cx="3028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28" name="reputation-bar">
            <a:extLst xmlns:a="http://schemas.openxmlformats.org/drawingml/2006/main">
              <a:ext uri="{FF2B5EF4-FFF2-40B4-BE49-F238E27FC236}">
                <a16:creationId xmlns:a16="http://schemas.microsoft.com/office/drawing/2014/main" id="{1DE304B3-B090-43A8-8198-ACB95891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19750"/>
            <a:ext cx="809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D3F8E1-5CE0-49BA-A891-0C8B6C04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5721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7B9F28-6DA9-4CA4-9B30-34538FB2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Purchase need</a:t>
            </a:r>
          </a:p>
        </p:txBody>
      </p:sp>
      <p:sp>
        <p:nvSpPr>
          <p:cNvPr id="31" name="need-track">
            <a:extLst xmlns:a="http://schemas.openxmlformats.org/drawingml/2006/main">
              <a:ext uri="{FF2B5EF4-FFF2-40B4-BE49-F238E27FC236}">
                <a16:creationId xmlns:a16="http://schemas.microsoft.com/office/drawing/2014/main" id="{BEBEB9E6-3A0E-46D5-970C-12AE5764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943600"/>
            <a:ext cx="3028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32" name="need-bar">
            <a:extLst xmlns:a="http://schemas.openxmlformats.org/drawingml/2006/main">
              <a:ext uri="{FF2B5EF4-FFF2-40B4-BE49-F238E27FC236}">
                <a16:creationId xmlns:a16="http://schemas.microsoft.com/office/drawing/2014/main" id="{CA8D9E8E-6D6C-4896-8EDD-63A1532C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943600"/>
            <a:ext cx="809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0AE31C-2250-43AA-87B2-5940EF20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89597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9AC37E-3945-475F-8020-2EDC828E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Certification and social activity are intentionally tiny: 1 point each.</a:t>
            </a:r>
          </a:p>
        </p:txBody>
      </p:sp>
      <p:sp>
        <p:nvSpPr>
          <p:cNvPr id="35" name="score-threshold">
            <a:extLst xmlns:a="http://schemas.openxmlformats.org/drawingml/2006/main">
              <a:ext uri="{FF2B5EF4-FFF2-40B4-BE49-F238E27FC236}">
                <a16:creationId xmlns:a16="http://schemas.microsoft.com/office/drawing/2014/main" id="{F432861D-7F5E-4D68-8E01-09D752FB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4DE58E-B434-4B76-B902-63302B67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33800"/>
            <a:ext cx="11049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70+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40F44D-D3D0-4853-8771-A1C24E0F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67200"/>
            <a:ext cx="125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high priority</a:t>
            </a:r>
          </a:p>
        </p:txBody>
      </p:sp>
      <p:sp>
        <p:nvSpPr>
          <p:cNvPr id="38" name="calc-panel">
            <a:extLst xmlns:a="http://schemas.openxmlformats.org/drawingml/2006/main">
              <a:ext uri="{FF2B5EF4-FFF2-40B4-BE49-F238E27FC236}">
                <a16:creationId xmlns:a16="http://schemas.microsoft.com/office/drawing/2014/main" id="{50B0E257-7CD1-4EA2-9DC1-14CD42DA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3295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9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1270A8-C977-45F6-88FC-ABE07CD6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5285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Calculation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03153B-3DE7-4770-943C-09EC7AAC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14800"/>
            <a:ext cx="2724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Normalize drivers to 0-100, combine by weight, then market-calibrate.</a:t>
            </a:r>
          </a:p>
        </p:txBody>
      </p:sp>
      <p:sp>
        <p:nvSpPr>
          <p:cNvPr id="41" name="reason-panel">
            <a:extLst xmlns:a="http://schemas.openxmlformats.org/drawingml/2006/main">
              <a:ext uri="{FF2B5EF4-FFF2-40B4-BE49-F238E27FC236}">
                <a16:creationId xmlns:a16="http://schemas.microsoft.com/office/drawing/2014/main" id="{078926F8-7281-4906-A1DD-716A790C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5276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52635F-FD82-4BD9-B4E9-46A4F676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62550"/>
            <a:ext cx="2571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Company-specific reason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40FE18-F4BD-4A17-B757-41773483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57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541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Perplexity rationale comes first. Then the app adds evidence from the strongest drivers: scale, contactability, buying signals, purchase need, or reputation.</a:t>
            </a:r>
          </a:p>
        </p:txBody>
      </p:sp>
      <p:sp>
        <p:nvSpPr>
          <p:cNvPr id="44" name="tie-rule">
            <a:extLst xmlns:a="http://schemas.openxmlformats.org/drawingml/2006/main">
              <a:ext uri="{FF2B5EF4-FFF2-40B4-BE49-F238E27FC236}">
                <a16:creationId xmlns:a16="http://schemas.microsoft.com/office/drawing/2014/main" id="{F736DFE1-7800-4183-8DF8-4B54FA36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72200"/>
            <a:ext cx="527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0859F4-A833-4F93-B319-ECE52399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0555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772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Tie-breakers: priority score first, then larger company, then contactability.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AF5819-3A6C-45B1-BE0B-5429268E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1950"/>
            <a:ext cx="1924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Model: overall-priority-v3</a:t>
            </a:r>
          </a:p>
        </p:txBody>
      </p:sp>
    </p:spTree>
    <p:extLst>
      <p:ext uri="{BB962C8B-B14F-4D97-AF65-F5344CB8AC3E}">
        <p14:creationId xmlns:p14="http://schemas.microsoft.com/office/powerpoint/2010/main" val="532535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2026-06-26T20:36:25.3290000Z</dcterms:created>
  <dcterms:modified xsi:type="dcterms:W3CDTF">2026-06-26T20:36:25.3290000Z</dcterms:modified>
</coreProperties>
</file>